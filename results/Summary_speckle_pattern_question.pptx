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1293A1-2920-F7D6-3680-7DEAECB3F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85D595E-1DD3-42ED-25DD-D41A510A52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7FBCFD6-05AF-98E1-5E4A-607A94423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B525C-F4D8-4946-AFF9-4CE3144AC6BD}" type="datetimeFigureOut">
              <a:rPr lang="de-DE" smtClean="0"/>
              <a:t>01.12.2025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C311A93-8CAE-6918-E462-DFF9721E2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CA0DABA-E141-7935-2C62-217BC00CE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13E4-7DF6-4116-8C5F-9C5713F094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7909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DAF9A6-38DB-7C74-B103-853460EC0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948127E-360F-6F57-53C4-67CF66B1F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F7BC4E3-1518-750A-1B5F-579B795BA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B525C-F4D8-4946-AFF9-4CE3144AC6BD}" type="datetimeFigureOut">
              <a:rPr lang="de-DE" smtClean="0"/>
              <a:t>01.12.2025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2050FB2-FC58-7947-19A9-2311E3146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FF39758-E709-BC8A-7B45-4C493C288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13E4-7DF6-4116-8C5F-9C5713F094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9886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C88AB0-AE04-761D-B367-97543EB67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5EA6FE2-8066-7258-7A66-E3FE5D42F9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24A51D9-3E8C-F1AC-F351-1646A1F54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B525C-F4D8-4946-AFF9-4CE3144AC6BD}" type="datetimeFigureOut">
              <a:rPr lang="de-DE" smtClean="0"/>
              <a:t>01.12.2025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8564606-8EE1-36CB-EC9D-42D903CF8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91E695F-81FF-4873-B1B8-452C5A714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13E4-7DF6-4116-8C5F-9C5713F094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333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CDA9B7-7D09-EF2E-059D-18C320F03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F49A1D8-23F3-B48F-D175-41349D7C12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85E64B8-F70E-291A-9824-83F7FAE645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CE85756-D23B-9E9E-7006-2FF1BEE34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B525C-F4D8-4946-AFF9-4CE3144AC6BD}" type="datetimeFigureOut">
              <a:rPr lang="de-DE" smtClean="0"/>
              <a:t>01.12.2025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5E93B7F-D897-2926-3D83-652D30633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E5921EA-A4EB-7C41-FFEC-AF758276F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13E4-7DF6-4116-8C5F-9C5713F094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337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01CDB8-9A06-4FF2-16A8-3B2C23E91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3959E49-CABF-3F26-0F4B-1AB51ED72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E126725-087A-B5BE-2FA5-45A0079201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6F19AA2-BA48-3D25-05DC-BD89B61D73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F1DA6B0-A26D-1DC1-2ACB-132CC40E78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406A51C-276B-776E-A9D9-C96EDD8F4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B525C-F4D8-4946-AFF9-4CE3144AC6BD}" type="datetimeFigureOut">
              <a:rPr lang="de-DE" smtClean="0"/>
              <a:t>01.12.2025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3F26F65-3209-9485-5901-65CE5A072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299230D-B2CF-F0B6-2E69-9E41A121E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13E4-7DF6-4116-8C5F-9C5713F094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0838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241728-2E6B-149C-12B7-9BA0E40D3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56BB0C6-BC4F-D309-82F0-5412777E9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B525C-F4D8-4946-AFF9-4CE3144AC6BD}" type="datetimeFigureOut">
              <a:rPr lang="de-DE" smtClean="0"/>
              <a:t>01.12.2025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D402362-14CD-17D9-1C03-F2F3B7F27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909D19E-D41F-A62A-7560-31D329147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13E4-7DF6-4116-8C5F-9C5713F094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8517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1DF192C-2CD0-FD7D-5C4C-5457FBCBB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B525C-F4D8-4946-AFF9-4CE3144AC6BD}" type="datetimeFigureOut">
              <a:rPr lang="de-DE" smtClean="0"/>
              <a:t>01.12.2025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9919AD1-0DDB-62CC-E974-7AA0E40AC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F987AD6-108D-9047-3241-4F77E867B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13E4-7DF6-4116-8C5F-9C5713F094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2177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1E4132-89D9-4473-AF65-00D552724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1B2B6F2-F007-33CA-52B5-5B26D2BF1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ACD579B-4CB5-B839-649C-9FEE00412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BC689B9-0368-2CF8-7312-070D18AD7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B525C-F4D8-4946-AFF9-4CE3144AC6BD}" type="datetimeFigureOut">
              <a:rPr lang="de-DE" smtClean="0"/>
              <a:t>01.12.2025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34C26BA-3CE6-91EE-43EA-1F2E91E28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A5D90A6-7FB4-C62C-8370-209C91855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13E4-7DF6-4116-8C5F-9C5713F094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1391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DF34E2-4D15-B931-F441-0BC35B006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D01C20A-122F-E21F-0D69-67C753EB70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2F48CA8-234A-37E7-8897-4FC2ACAD97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EEBB8A3-9B29-E15C-A919-9EF665472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B525C-F4D8-4946-AFF9-4CE3144AC6BD}" type="datetimeFigureOut">
              <a:rPr lang="de-DE" smtClean="0"/>
              <a:t>01.12.2025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C810087-B74E-4E2A-1E11-13C0703E9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DB0CED8-DEE9-CA1F-7458-B6B651C54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13E4-7DF6-4116-8C5F-9C5713F094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8467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B79739-DFE5-302C-53A2-01A9318C0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C8DB2CD-393B-2FD0-C2E2-1DB57B31D9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EBF5FF-07C0-6392-6C53-D18BD56C4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B525C-F4D8-4946-AFF9-4CE3144AC6BD}" type="datetimeFigureOut">
              <a:rPr lang="de-DE" smtClean="0"/>
              <a:t>01.12.2025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1CF832A-E332-EB75-0116-CA71481F5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5F58FF0-5DB6-3F8D-1749-EFC90B6A3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13E4-7DF6-4116-8C5F-9C5713F094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1144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81F5D60-C887-7E75-05FD-557B4071B7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47B1F10-FB64-C148-6338-CB5E182039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0747F48-AB7E-B11E-58E5-AA1C166A2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B525C-F4D8-4946-AFF9-4CE3144AC6BD}" type="datetimeFigureOut">
              <a:rPr lang="de-DE" smtClean="0"/>
              <a:t>01.12.2025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DC9BB58-CF73-9DEA-4FD2-5515B664A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66F767C-82B2-A994-CD54-F7584642C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13E4-7DF6-4116-8C5F-9C5713F094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338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0107927-A798-05A4-A02D-0C237DBCD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D3CF7FF-7629-5EF1-22C2-DA6BF986CE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E166832-E226-5129-259A-E308C7596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FB525C-F4D8-4946-AFF9-4CE3144AC6BD}" type="datetimeFigureOut">
              <a:rPr lang="de-DE" smtClean="0"/>
              <a:t>01.12.2025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F917F79-E786-0052-16B9-4887FD9049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9FE0CA6-E72C-1E99-B73B-6B44CFB0B6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5A13E4-7DF6-4116-8C5F-9C5713F094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7218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004BF7-156E-2D8F-115D-E973BD110C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680" y="258540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de-DE" dirty="0"/>
              <a:t>Are Speckle </a:t>
            </a:r>
            <a:r>
              <a:rPr lang="de-DE" dirty="0" err="1"/>
              <a:t>patterns</a:t>
            </a:r>
            <a:r>
              <a:rPr lang="de-DE" dirty="0"/>
              <a:t> </a:t>
            </a:r>
            <a:r>
              <a:rPr lang="de-DE" dirty="0" err="1"/>
              <a:t>crop-specific</a:t>
            </a:r>
            <a:r>
              <a:rPr lang="de-DE" dirty="0"/>
              <a:t>?</a:t>
            </a:r>
            <a:br>
              <a:rPr lang="de-DE" dirty="0"/>
            </a:br>
            <a:br>
              <a:rPr lang="de-DE" dirty="0"/>
            </a:br>
            <a:r>
              <a:rPr lang="de-DE" dirty="0"/>
              <a:t>2nd </a:t>
            </a:r>
            <a:r>
              <a:rPr lang="de-DE" dirty="0" err="1"/>
              <a:t>Dec</a:t>
            </a:r>
            <a:r>
              <a:rPr lang="de-DE" dirty="0"/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950781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CCDEC4-0A74-5CA6-247B-E2528C0F7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6132"/>
            <a:ext cx="10515600" cy="1325563"/>
          </a:xfrm>
        </p:spPr>
        <p:txBody>
          <a:bodyPr/>
          <a:lstStyle/>
          <a:p>
            <a:r>
              <a:rPr lang="de-DE" dirty="0"/>
              <a:t>Hypothesis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ECD6AFA-116E-4A8C-541C-F4492E8F7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7225" y="3549526"/>
            <a:ext cx="1149409" cy="958899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DAA51BF4-00F7-7D1E-28C1-20417A714A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5477" y="3549526"/>
            <a:ext cx="1092256" cy="958899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79EFD556-F6D7-15ED-0C57-D8B192C67B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77225" y="5425158"/>
            <a:ext cx="1149409" cy="958899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054CC1DF-91F0-7297-CDC9-23BBD3CA810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4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35477" y="5425158"/>
            <a:ext cx="1092256" cy="958899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4A5BA662-9A26-A3F5-C530-7AC8F44E00FD}"/>
              </a:ext>
            </a:extLst>
          </p:cNvPr>
          <p:cNvSpPr txBox="1"/>
          <p:nvPr/>
        </p:nvSpPr>
        <p:spPr>
          <a:xfrm>
            <a:off x="3635477" y="2917929"/>
            <a:ext cx="12009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Class A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3CE005A8-109F-1DEF-7CA0-7C28B5553E1C}"/>
              </a:ext>
            </a:extLst>
          </p:cNvPr>
          <p:cNvSpPr txBox="1"/>
          <p:nvPr/>
        </p:nvSpPr>
        <p:spPr>
          <a:xfrm>
            <a:off x="8114554" y="2917929"/>
            <a:ext cx="1188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Class B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33014382-358E-4584-E367-64B0E5ACE5ED}"/>
              </a:ext>
            </a:extLst>
          </p:cNvPr>
          <p:cNvSpPr txBox="1"/>
          <p:nvPr/>
        </p:nvSpPr>
        <p:spPr>
          <a:xfrm>
            <a:off x="838200" y="3554318"/>
            <a:ext cx="235340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Sentinel 1 GRD</a:t>
            </a:r>
          </a:p>
          <a:p>
            <a:r>
              <a:rPr lang="de-DE" sz="2800" dirty="0"/>
              <a:t>Acquisition</a:t>
            </a:r>
            <a:br>
              <a:rPr lang="de-DE" sz="2800" dirty="0"/>
            </a:br>
            <a:r>
              <a:rPr lang="de-DE" sz="2800" dirty="0"/>
              <a:t>(Raw)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814AAD89-291A-DC7A-1D04-F55842D4F471}"/>
              </a:ext>
            </a:extLst>
          </p:cNvPr>
          <p:cNvSpPr txBox="1"/>
          <p:nvPr/>
        </p:nvSpPr>
        <p:spPr>
          <a:xfrm>
            <a:off x="5127954" y="4498090"/>
            <a:ext cx="30145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 err="1"/>
              <a:t>Normalization</a:t>
            </a:r>
            <a:r>
              <a:rPr lang="de-DE" sz="2800" dirty="0"/>
              <a:t>:</a:t>
            </a:r>
          </a:p>
          <a:p>
            <a:r>
              <a:rPr lang="de-DE" sz="2800" dirty="0"/>
              <a:t>X2 = X – Mean(X)</a:t>
            </a:r>
          </a:p>
        </p:txBody>
      </p:sp>
      <p:sp>
        <p:nvSpPr>
          <p:cNvPr id="14" name="Pfeil: nach unten 13">
            <a:extLst>
              <a:ext uri="{FF2B5EF4-FFF2-40B4-BE49-F238E27FC236}">
                <a16:creationId xmlns:a16="http://schemas.microsoft.com/office/drawing/2014/main" id="{FA025DD9-BB97-9969-5D20-55789BA65C09}"/>
              </a:ext>
            </a:extLst>
          </p:cNvPr>
          <p:cNvSpPr/>
          <p:nvPr/>
        </p:nvSpPr>
        <p:spPr>
          <a:xfrm>
            <a:off x="4014458" y="4825390"/>
            <a:ext cx="334297" cy="4350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Pfeil: nach unten 14">
            <a:extLst>
              <a:ext uri="{FF2B5EF4-FFF2-40B4-BE49-F238E27FC236}">
                <a16:creationId xmlns:a16="http://schemas.microsoft.com/office/drawing/2014/main" id="{4FFB08EC-6CBE-238B-F320-8BD35BC8497B}"/>
              </a:ext>
            </a:extLst>
          </p:cNvPr>
          <p:cNvSpPr/>
          <p:nvPr/>
        </p:nvSpPr>
        <p:spPr>
          <a:xfrm>
            <a:off x="8602142" y="4749253"/>
            <a:ext cx="334297" cy="4350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DE548C46-38A7-61FE-7271-38FC424EC98E}"/>
              </a:ext>
            </a:extLst>
          </p:cNvPr>
          <p:cNvSpPr txBox="1"/>
          <p:nvPr/>
        </p:nvSpPr>
        <p:spPr>
          <a:xfrm>
            <a:off x="1646697" y="1721927"/>
            <a:ext cx="937448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A </a:t>
            </a:r>
            <a:r>
              <a:rPr lang="de-DE" sz="2800" dirty="0" err="1"/>
              <a:t>Neural</a:t>
            </a:r>
            <a:r>
              <a:rPr lang="de-DE" sz="2800" dirty="0"/>
              <a:t> Network </a:t>
            </a:r>
            <a:r>
              <a:rPr lang="de-DE" sz="2800" dirty="0" err="1"/>
              <a:t>can</a:t>
            </a:r>
            <a:r>
              <a:rPr lang="de-DE" sz="2800" dirty="0"/>
              <a:t> </a:t>
            </a:r>
            <a:r>
              <a:rPr lang="de-DE" sz="2800" dirty="0" err="1"/>
              <a:t>distinguish</a:t>
            </a:r>
            <a:r>
              <a:rPr lang="de-DE" sz="2800" dirty="0"/>
              <a:t> </a:t>
            </a:r>
            <a:r>
              <a:rPr lang="de-DE" sz="2800" dirty="0" err="1"/>
              <a:t>classes</a:t>
            </a:r>
            <a:r>
              <a:rPr lang="de-DE" sz="2800" dirty="0"/>
              <a:t> in </a:t>
            </a:r>
            <a:r>
              <a:rPr lang="de-DE" sz="2800" dirty="0" err="1"/>
              <a:t>normalized</a:t>
            </a:r>
            <a:r>
              <a:rPr lang="de-DE" sz="2800" dirty="0"/>
              <a:t> </a:t>
            </a:r>
            <a:r>
              <a:rPr lang="de-DE" sz="2800" dirty="0" err="1"/>
              <a:t>images</a:t>
            </a:r>
            <a:r>
              <a:rPr lang="de-DE" sz="2800" dirty="0"/>
              <a:t>.</a:t>
            </a:r>
          </a:p>
          <a:p>
            <a:r>
              <a:rPr lang="de-DE" sz="2800" dirty="0">
                <a:sym typeface="Wingdings" panose="05000000000000000000" pitchFamily="2" charset="2"/>
              </a:rPr>
              <a:t> This </a:t>
            </a:r>
            <a:r>
              <a:rPr lang="de-DE" sz="2800" dirty="0" err="1">
                <a:sym typeface="Wingdings" panose="05000000000000000000" pitchFamily="2" charset="2"/>
              </a:rPr>
              <a:t>would</a:t>
            </a:r>
            <a:r>
              <a:rPr lang="de-DE" sz="2800" dirty="0">
                <a:sym typeface="Wingdings" panose="05000000000000000000" pitchFamily="2" charset="2"/>
              </a:rPr>
              <a:t> </a:t>
            </a:r>
            <a:r>
              <a:rPr lang="de-DE" sz="2800" dirty="0" err="1">
                <a:sym typeface="Wingdings" panose="05000000000000000000" pitchFamily="2" charset="2"/>
              </a:rPr>
              <a:t>mean</a:t>
            </a:r>
            <a:r>
              <a:rPr lang="de-DE" sz="2800" dirty="0">
                <a:sym typeface="Wingdings" panose="05000000000000000000" pitchFamily="2" charset="2"/>
              </a:rPr>
              <a:t> </a:t>
            </a:r>
            <a:r>
              <a:rPr lang="de-DE" sz="2800" dirty="0" err="1"/>
              <a:t>distinguishing</a:t>
            </a:r>
            <a:r>
              <a:rPr lang="de-DE" sz="2800" dirty="0"/>
              <a:t> </a:t>
            </a:r>
            <a:r>
              <a:rPr lang="de-DE" sz="2800" dirty="0" err="1"/>
              <a:t>speckle</a:t>
            </a:r>
            <a:r>
              <a:rPr lang="de-DE" sz="2800" dirty="0"/>
              <a:t> </a:t>
            </a:r>
            <a:r>
              <a:rPr lang="de-DE" sz="2800" dirty="0" err="1"/>
              <a:t>patterns</a:t>
            </a:r>
            <a:endParaRPr lang="de-DE" sz="2800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35B71DD2-98D8-0B14-B9A0-5565DE78194B}"/>
              </a:ext>
            </a:extLst>
          </p:cNvPr>
          <p:cNvSpPr txBox="1"/>
          <p:nvPr/>
        </p:nvSpPr>
        <p:spPr>
          <a:xfrm>
            <a:off x="1222629" y="5476941"/>
            <a:ext cx="187743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 err="1"/>
              <a:t>Normalized</a:t>
            </a:r>
            <a:br>
              <a:rPr lang="de-DE" sz="2800" dirty="0"/>
            </a:br>
            <a:r>
              <a:rPr lang="de-DE" sz="2800" dirty="0"/>
              <a:t>(</a:t>
            </a:r>
            <a:r>
              <a:rPr lang="de-DE" sz="2800" dirty="0" err="1"/>
              <a:t>Zeromean</a:t>
            </a:r>
            <a:r>
              <a:rPr lang="de-DE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65544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934A6F-BDB6-4E3C-0F22-D10963824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Test </a:t>
            </a:r>
            <a:r>
              <a:rPr lang="de-DE" dirty="0" err="1"/>
              <a:t>setup</a:t>
            </a:r>
            <a:r>
              <a:rPr lang="de-DE" dirty="0"/>
              <a:t>:</a:t>
            </a:r>
          </a:p>
        </p:txBody>
      </p:sp>
      <p:pic>
        <p:nvPicPr>
          <p:cNvPr id="2050" name="Picture 2" descr="Weizen PNGs zum kostenlosen Download">
            <a:extLst>
              <a:ext uri="{FF2B5EF4-FFF2-40B4-BE49-F238E27FC236}">
                <a16:creationId xmlns:a16="http://schemas.microsoft.com/office/drawing/2014/main" id="{98CBD76F-2F52-9A2C-2C12-489BED3E05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4736" y="2431267"/>
            <a:ext cx="738187" cy="738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Mais PNGs zum kostenlosen Download">
            <a:extLst>
              <a:ext uri="{FF2B5EF4-FFF2-40B4-BE49-F238E27FC236}">
                <a16:creationId xmlns:a16="http://schemas.microsoft.com/office/drawing/2014/main" id="{7B84299A-1868-7859-8E0D-0DDDE1A932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9655" y="2406773"/>
            <a:ext cx="1260414" cy="840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Gras png Bilder - Kostenloser Download ...">
            <a:extLst>
              <a:ext uri="{FF2B5EF4-FFF2-40B4-BE49-F238E27FC236}">
                <a16:creationId xmlns:a16="http://schemas.microsoft.com/office/drawing/2014/main" id="{FEF1F4BA-CA10-9E2C-0EAA-B38679BD09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721"/>
          <a:stretch>
            <a:fillRect/>
          </a:stretch>
        </p:blipFill>
        <p:spPr bwMode="auto">
          <a:xfrm>
            <a:off x="687119" y="2213908"/>
            <a:ext cx="1074633" cy="773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Unsere Zuckerrübe">
            <a:extLst>
              <a:ext uri="{FF2B5EF4-FFF2-40B4-BE49-F238E27FC236}">
                <a16:creationId xmlns:a16="http://schemas.microsoft.com/office/drawing/2014/main" id="{6228A78B-518E-9119-F871-859A84139B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9474" y="2118865"/>
            <a:ext cx="787359" cy="1157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CB324EA2-92A6-C6E9-BD5F-1A4CB5B232DA}"/>
              </a:ext>
            </a:extLst>
          </p:cNvPr>
          <p:cNvSpPr txBox="1"/>
          <p:nvPr/>
        </p:nvSpPr>
        <p:spPr>
          <a:xfrm>
            <a:off x="527743" y="1690688"/>
            <a:ext cx="24000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Class </a:t>
            </a:r>
            <a:r>
              <a:rPr lang="de-DE" sz="2800" dirty="0" err="1"/>
              <a:t>selection</a:t>
            </a:r>
            <a:r>
              <a:rPr lang="de-DE" sz="2800" dirty="0"/>
              <a:t>: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8F01290-C568-2FD2-7C4D-F51CAC2E3E15}"/>
              </a:ext>
            </a:extLst>
          </p:cNvPr>
          <p:cNvSpPr txBox="1"/>
          <p:nvPr/>
        </p:nvSpPr>
        <p:spPr>
          <a:xfrm>
            <a:off x="527743" y="3495696"/>
            <a:ext cx="558659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Meadows   Corn         Beet        Wheat</a:t>
            </a:r>
          </a:p>
          <a:p>
            <a:r>
              <a:rPr lang="de-DE" sz="2800" dirty="0"/>
              <a:t>1                    4                 6                12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FB58329-AB45-2DC9-EE10-8BCAB70A79EC}"/>
              </a:ext>
            </a:extLst>
          </p:cNvPr>
          <p:cNvSpPr txBox="1"/>
          <p:nvPr/>
        </p:nvSpPr>
        <p:spPr>
          <a:xfrm>
            <a:off x="7673678" y="102868"/>
            <a:ext cx="341183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Region:</a:t>
            </a:r>
          </a:p>
          <a:p>
            <a:r>
              <a:rPr lang="de-DE" sz="2800" dirty="0"/>
              <a:t>NRW + </a:t>
            </a:r>
            <a:r>
              <a:rPr lang="de-DE" sz="2800" dirty="0" err="1"/>
              <a:t>Niedersachesn</a:t>
            </a:r>
            <a:endParaRPr lang="de-DE" sz="2800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D79995DC-EC26-40AA-DFA3-BC2B34D04B48}"/>
              </a:ext>
            </a:extLst>
          </p:cNvPr>
          <p:cNvSpPr txBox="1"/>
          <p:nvPr/>
        </p:nvSpPr>
        <p:spPr>
          <a:xfrm>
            <a:off x="480497" y="5039093"/>
            <a:ext cx="584570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Data:   Sentinel 1 GRD Orbit D139</a:t>
            </a:r>
          </a:p>
          <a:p>
            <a:endParaRPr lang="de-DE" sz="2800" dirty="0"/>
          </a:p>
          <a:p>
            <a:r>
              <a:rPr lang="de-DE" sz="2800" dirty="0"/>
              <a:t>Date: 11. Juni 2022 (und 23. Juni 2022)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E8558BC0-E967-FB98-914C-D1F3D0B489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4435" y="1196690"/>
            <a:ext cx="3391074" cy="3581584"/>
          </a:xfrm>
          <a:prstGeom prst="rect">
            <a:avLst/>
          </a:prstGeom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F356DFD9-C7EA-AAD5-952D-51B5313BB0F7}"/>
              </a:ext>
            </a:extLst>
          </p:cNvPr>
          <p:cNvSpPr txBox="1"/>
          <p:nvPr/>
        </p:nvSpPr>
        <p:spPr>
          <a:xfrm>
            <a:off x="7334865" y="5731590"/>
            <a:ext cx="6096000" cy="1004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train_samples</a:t>
            </a:r>
            <a:r>
              <a:rPr lang="fr-FR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	</a:t>
            </a:r>
            <a:r>
              <a:rPr lang="fr-F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54 212</a:t>
            </a:r>
          </a:p>
          <a:p>
            <a:pPr>
              <a:lnSpc>
                <a:spcPts val="1425"/>
              </a:lnSpc>
              <a:buNone/>
            </a:pPr>
            <a:endParaRPr lang="fr-F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validation_samples</a:t>
            </a:r>
            <a:r>
              <a:rPr lang="fr-FR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17 756</a:t>
            </a:r>
          </a:p>
          <a:p>
            <a:pPr>
              <a:lnSpc>
                <a:spcPts val="1425"/>
              </a:lnSpc>
              <a:buNone/>
            </a:pPr>
            <a:endParaRPr lang="fr-F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test_samples</a:t>
            </a:r>
            <a:r>
              <a:rPr lang="fr-FR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	</a:t>
            </a:r>
            <a:r>
              <a:rPr lang="fr-F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17 864</a:t>
            </a:r>
            <a:endParaRPr lang="fr-F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2E5DDDD8-674B-0728-130B-71A9002F8D2D}"/>
              </a:ext>
            </a:extLst>
          </p:cNvPr>
          <p:cNvSpPr txBox="1"/>
          <p:nvPr/>
        </p:nvSpPr>
        <p:spPr>
          <a:xfrm>
            <a:off x="7460013" y="5039093"/>
            <a:ext cx="46296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N </a:t>
            </a:r>
            <a:r>
              <a:rPr lang="de-DE" sz="2800" dirty="0" err="1"/>
              <a:t>training</a:t>
            </a:r>
            <a:r>
              <a:rPr lang="de-DE" sz="2800" dirty="0"/>
              <a:t> </a:t>
            </a:r>
            <a:r>
              <a:rPr lang="de-DE" sz="2800" dirty="0" err="1"/>
              <a:t>samples</a:t>
            </a:r>
            <a:r>
              <a:rPr lang="de-DE" sz="2800" dirty="0"/>
              <a:t> </a:t>
            </a:r>
            <a:r>
              <a:rPr lang="de-DE" sz="2800" dirty="0" err="1"/>
              <a:t>both</a:t>
            </a:r>
            <a:r>
              <a:rPr lang="de-DE" sz="2800" dirty="0"/>
              <a:t> </a:t>
            </a:r>
            <a:r>
              <a:rPr lang="de-DE" sz="2800" dirty="0" err="1"/>
              <a:t>dates</a:t>
            </a:r>
            <a:r>
              <a:rPr lang="de-DE" sz="28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551250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DF9B0B-4D2D-F765-D5D8-65F1DD3FB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NN network NR. 1; „test_conv2d“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99B9C2A-DC8A-3368-3CAF-EADDA4B8C76D}"/>
              </a:ext>
            </a:extLst>
          </p:cNvPr>
          <p:cNvSpPr txBox="1"/>
          <p:nvPr/>
        </p:nvSpPr>
        <p:spPr>
          <a:xfrm>
            <a:off x="576416" y="1434429"/>
            <a:ext cx="1103916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Model Architecture: test_conv2d</a:t>
            </a:r>
          </a:p>
          <a:p>
            <a:endParaRPr lang="de-DE" dirty="0"/>
          </a:p>
          <a:p>
            <a:r>
              <a:rPr lang="de-DE" dirty="0"/>
              <a:t>----------------------------------------------------------------</a:t>
            </a:r>
          </a:p>
          <a:p>
            <a:r>
              <a:rPr lang="de-DE" dirty="0"/>
              <a:t>        Layer (type)               Output Shape         Param #</a:t>
            </a:r>
          </a:p>
          <a:p>
            <a:r>
              <a:rPr lang="de-DE" dirty="0"/>
              <a:t>================================================================</a:t>
            </a:r>
          </a:p>
          <a:p>
            <a:r>
              <a:rPr lang="de-DE" dirty="0"/>
              <a:t>            Conv2d-1           [-1, 32, 10, 10]             576</a:t>
            </a:r>
          </a:p>
          <a:p>
            <a:r>
              <a:rPr lang="de-DE" dirty="0"/>
              <a:t>       BatchNorm2d-2           [-1, 32, 10, 10]              64</a:t>
            </a:r>
          </a:p>
          <a:p>
            <a:r>
              <a:rPr lang="de-DE" dirty="0"/>
              <a:t>            Conv2d-3           [-1, 64, 10, 10]          18,432</a:t>
            </a:r>
          </a:p>
          <a:p>
            <a:r>
              <a:rPr lang="de-DE" dirty="0"/>
              <a:t>       BatchNorm2d-4           [-1, 64, 10, 10]             128</a:t>
            </a:r>
          </a:p>
          <a:p>
            <a:r>
              <a:rPr lang="de-DE" dirty="0"/>
              <a:t>            Conv2d-5          [-1, 128, 10, 10]          73,728</a:t>
            </a:r>
          </a:p>
          <a:p>
            <a:r>
              <a:rPr lang="de-DE" dirty="0"/>
              <a:t>       BatchNorm2d-6          [-1, 128, 10, 10]             256</a:t>
            </a:r>
          </a:p>
          <a:p>
            <a:r>
              <a:rPr lang="de-DE" dirty="0"/>
              <a:t> AdaptiveAvgPool2d-7            [-1, 128, 1, 1]               0</a:t>
            </a:r>
          </a:p>
          <a:p>
            <a:r>
              <a:rPr lang="de-DE" dirty="0"/>
              <a:t>           Dropout-8                  [-1, 128]               0</a:t>
            </a:r>
          </a:p>
          <a:p>
            <a:r>
              <a:rPr lang="de-DE" dirty="0"/>
              <a:t>            Linear-9                    [-1, 4]             516</a:t>
            </a:r>
          </a:p>
          <a:p>
            <a:r>
              <a:rPr lang="de-DE" dirty="0"/>
              <a:t>================================================================</a:t>
            </a:r>
          </a:p>
          <a:p>
            <a:r>
              <a:rPr lang="de-DE" dirty="0"/>
              <a:t>Total </a:t>
            </a:r>
            <a:r>
              <a:rPr lang="de-DE" dirty="0" err="1"/>
              <a:t>params</a:t>
            </a:r>
            <a:r>
              <a:rPr lang="de-DE" dirty="0"/>
              <a:t>: 93,700</a:t>
            </a:r>
          </a:p>
          <a:p>
            <a:r>
              <a:rPr lang="de-DE" dirty="0" err="1"/>
              <a:t>Trainable</a:t>
            </a:r>
            <a:r>
              <a:rPr lang="de-DE" dirty="0"/>
              <a:t> </a:t>
            </a:r>
            <a:r>
              <a:rPr lang="de-DE" dirty="0" err="1"/>
              <a:t>params</a:t>
            </a:r>
            <a:r>
              <a:rPr lang="de-DE" dirty="0"/>
              <a:t>: 93,700</a:t>
            </a:r>
          </a:p>
          <a:p>
            <a:r>
              <a:rPr lang="de-DE" dirty="0"/>
              <a:t>Non-</a:t>
            </a:r>
            <a:r>
              <a:rPr lang="de-DE" dirty="0" err="1"/>
              <a:t>trainable</a:t>
            </a:r>
            <a:r>
              <a:rPr lang="de-DE" dirty="0"/>
              <a:t> </a:t>
            </a:r>
            <a:r>
              <a:rPr lang="de-DE" dirty="0" err="1"/>
              <a:t>params</a:t>
            </a:r>
            <a:r>
              <a:rPr lang="de-DE" dirty="0"/>
              <a:t>: 0</a:t>
            </a:r>
          </a:p>
        </p:txBody>
      </p:sp>
    </p:spTree>
    <p:extLst>
      <p:ext uri="{BB962C8B-B14F-4D97-AF65-F5344CB8AC3E}">
        <p14:creationId xmlns:p14="http://schemas.microsoft.com/office/powerpoint/2010/main" val="3579828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70CA3-3DB5-3E96-C97C-3D99C8FA6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8A775D-25A1-08A9-9805-AC055B2C1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NN network Nr. 2: „test_conv2d_n2“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B13AFA3-2B3F-3B1B-F283-D98AF3EBDBA1}"/>
              </a:ext>
            </a:extLst>
          </p:cNvPr>
          <p:cNvSpPr txBox="1"/>
          <p:nvPr/>
        </p:nvSpPr>
        <p:spPr>
          <a:xfrm>
            <a:off x="576416" y="1434429"/>
            <a:ext cx="1103916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Model Architecture: test_conv2d_n2</a:t>
            </a:r>
          </a:p>
          <a:p>
            <a:endParaRPr lang="de-DE" dirty="0"/>
          </a:p>
          <a:p>
            <a:r>
              <a:rPr lang="de-DE" dirty="0"/>
              <a:t>----------------------------------------------------------------</a:t>
            </a:r>
          </a:p>
          <a:p>
            <a:r>
              <a:rPr lang="de-DE" dirty="0"/>
              <a:t>        Layer (type)               Output Shape         Param #</a:t>
            </a:r>
          </a:p>
          <a:p>
            <a:r>
              <a:rPr lang="de-DE" dirty="0"/>
              <a:t>================================================================</a:t>
            </a:r>
          </a:p>
          <a:p>
            <a:r>
              <a:rPr lang="de-DE" dirty="0"/>
              <a:t>            Conv2d-1            [-1, 8, 10, 10]             152</a:t>
            </a:r>
          </a:p>
          <a:p>
            <a:r>
              <a:rPr lang="de-DE" dirty="0"/>
              <a:t>       BatchNorm2d-2            [-1, 8, 10, 10]              16</a:t>
            </a:r>
          </a:p>
          <a:p>
            <a:r>
              <a:rPr lang="de-DE" dirty="0"/>
              <a:t>            Conv2d-3           [-1, 16, 10, 10]           1,168</a:t>
            </a:r>
          </a:p>
          <a:p>
            <a:r>
              <a:rPr lang="de-DE" dirty="0"/>
              <a:t>       BatchNorm2d-4           [-1, 16, 10, 10]              32</a:t>
            </a:r>
          </a:p>
          <a:p>
            <a:r>
              <a:rPr lang="de-DE" dirty="0"/>
              <a:t> AdaptiveAvgPool2d-5             [-1, 16, 1, 1]               0</a:t>
            </a:r>
          </a:p>
          <a:p>
            <a:r>
              <a:rPr lang="de-DE" dirty="0"/>
              <a:t>           Dropout-6                   [-1, 16]               0</a:t>
            </a:r>
          </a:p>
          <a:p>
            <a:r>
              <a:rPr lang="de-DE" dirty="0"/>
              <a:t>            Linear-7                    [-1, 4]              68</a:t>
            </a:r>
          </a:p>
          <a:p>
            <a:r>
              <a:rPr lang="de-DE" dirty="0"/>
              <a:t>================================================================</a:t>
            </a:r>
          </a:p>
          <a:p>
            <a:r>
              <a:rPr lang="de-DE" dirty="0"/>
              <a:t>Total </a:t>
            </a:r>
            <a:r>
              <a:rPr lang="de-DE" dirty="0" err="1"/>
              <a:t>params</a:t>
            </a:r>
            <a:r>
              <a:rPr lang="de-DE" dirty="0"/>
              <a:t>: 1,436</a:t>
            </a:r>
          </a:p>
          <a:p>
            <a:r>
              <a:rPr lang="de-DE" dirty="0" err="1"/>
              <a:t>Trainable</a:t>
            </a:r>
            <a:r>
              <a:rPr lang="de-DE" dirty="0"/>
              <a:t> </a:t>
            </a:r>
            <a:r>
              <a:rPr lang="de-DE" dirty="0" err="1"/>
              <a:t>params</a:t>
            </a:r>
            <a:r>
              <a:rPr lang="de-DE" dirty="0"/>
              <a:t>: 1,436</a:t>
            </a:r>
          </a:p>
          <a:p>
            <a:r>
              <a:rPr lang="de-DE" dirty="0"/>
              <a:t>Non-</a:t>
            </a:r>
            <a:r>
              <a:rPr lang="de-DE" dirty="0" err="1"/>
              <a:t>trainable</a:t>
            </a:r>
            <a:r>
              <a:rPr lang="de-DE" dirty="0"/>
              <a:t> </a:t>
            </a:r>
            <a:r>
              <a:rPr lang="de-DE" dirty="0" err="1"/>
              <a:t>params</a:t>
            </a:r>
            <a:r>
              <a:rPr lang="de-DE" dirty="0"/>
              <a:t>: 0</a:t>
            </a:r>
          </a:p>
        </p:txBody>
      </p:sp>
    </p:spTree>
    <p:extLst>
      <p:ext uri="{BB962C8B-B14F-4D97-AF65-F5344CB8AC3E}">
        <p14:creationId xmlns:p14="http://schemas.microsoft.com/office/powerpoint/2010/main" val="2714370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A0761E-333F-2301-094B-C06AE26B0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Results</a:t>
            </a:r>
            <a:r>
              <a:rPr lang="de-DE" dirty="0"/>
              <a:t> : Overall </a:t>
            </a:r>
            <a:r>
              <a:rPr lang="de-DE" dirty="0" err="1"/>
              <a:t>accuracy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069BB26-A0F5-E511-A562-C8F26E8C5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291" y="1853381"/>
            <a:ext cx="7543329" cy="4368527"/>
          </a:xfrm>
          <a:prstGeom prst="rect">
            <a:avLst/>
          </a:prstGeom>
        </p:spPr>
      </p:pic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EC57B296-45EF-22DB-1DC7-E1B3C2E2B300}"/>
              </a:ext>
            </a:extLst>
          </p:cNvPr>
          <p:cNvCxnSpPr>
            <a:cxnSpLocks/>
          </p:cNvCxnSpPr>
          <p:nvPr/>
        </p:nvCxnSpPr>
        <p:spPr>
          <a:xfrm>
            <a:off x="855407" y="4792169"/>
            <a:ext cx="815094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03DAFFBF-2450-66C5-4701-69CDE9EDC4CB}"/>
              </a:ext>
            </a:extLst>
          </p:cNvPr>
          <p:cNvSpPr txBox="1"/>
          <p:nvPr/>
        </p:nvSpPr>
        <p:spPr>
          <a:xfrm>
            <a:off x="9006348" y="4556195"/>
            <a:ext cx="32839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/>
              <a:t>25% </a:t>
            </a:r>
            <a:r>
              <a:rPr lang="de-DE" sz="2800" dirty="0">
                <a:sym typeface="Wingdings" panose="05000000000000000000" pitchFamily="2" charset="2"/>
              </a:rPr>
              <a:t>  </a:t>
            </a:r>
            <a:r>
              <a:rPr lang="de-DE" sz="2800" dirty="0" err="1">
                <a:sym typeface="Wingdings" panose="05000000000000000000" pitchFamily="2" charset="2"/>
              </a:rPr>
              <a:t>Accuracy</a:t>
            </a:r>
            <a:r>
              <a:rPr lang="de-DE" sz="2800" dirty="0">
                <a:sym typeface="Wingdings" panose="05000000000000000000" pitchFamily="2" charset="2"/>
              </a:rPr>
              <a:t> </a:t>
            </a:r>
            <a:r>
              <a:rPr lang="de-DE" sz="2800" dirty="0" err="1">
                <a:sym typeface="Wingdings" panose="05000000000000000000" pitchFamily="2" charset="2"/>
              </a:rPr>
              <a:t>of</a:t>
            </a:r>
            <a:r>
              <a:rPr lang="de-DE" sz="2800" dirty="0">
                <a:sym typeface="Wingdings" panose="05000000000000000000" pitchFamily="2" charset="2"/>
              </a:rPr>
              <a:t> a </a:t>
            </a:r>
            <a:r>
              <a:rPr lang="de-DE" sz="2800" dirty="0" err="1">
                <a:sym typeface="Wingdings" panose="05000000000000000000" pitchFamily="2" charset="2"/>
              </a:rPr>
              <a:t>random</a:t>
            </a:r>
            <a:r>
              <a:rPr lang="de-DE" sz="2800" dirty="0">
                <a:sym typeface="Wingdings" panose="05000000000000000000" pitchFamily="2" charset="2"/>
              </a:rPr>
              <a:t> </a:t>
            </a:r>
            <a:r>
              <a:rPr lang="de-DE" sz="2800" dirty="0" err="1">
                <a:sym typeface="Wingdings" panose="05000000000000000000" pitchFamily="2" charset="2"/>
              </a:rPr>
              <a:t>classifier</a:t>
            </a:r>
            <a:endParaRPr lang="de-DE" sz="2800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7840BBD1-B73D-FD57-7DAF-992DC2B4A2B1}"/>
              </a:ext>
            </a:extLst>
          </p:cNvPr>
          <p:cNvSpPr txBox="1"/>
          <p:nvPr/>
        </p:nvSpPr>
        <p:spPr>
          <a:xfrm>
            <a:off x="8426245" y="737452"/>
            <a:ext cx="376575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Raw =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Normalization</a:t>
            </a:r>
            <a:endParaRPr lang="de-DE" dirty="0"/>
          </a:p>
          <a:p>
            <a:endParaRPr lang="de-DE" dirty="0"/>
          </a:p>
          <a:p>
            <a:r>
              <a:rPr lang="de-DE" dirty="0" err="1"/>
              <a:t>Zeromean</a:t>
            </a:r>
            <a:r>
              <a:rPr lang="de-DE" dirty="0"/>
              <a:t> = </a:t>
            </a:r>
            <a:r>
              <a:rPr lang="de-DE" dirty="0" err="1"/>
              <a:t>Normalized</a:t>
            </a:r>
            <a:endParaRPr lang="de-DE" dirty="0"/>
          </a:p>
          <a:p>
            <a:endParaRPr lang="de-DE" dirty="0"/>
          </a:p>
          <a:p>
            <a:r>
              <a:rPr lang="de-DE" dirty="0"/>
              <a:t>Single = 11.06.2022</a:t>
            </a:r>
          </a:p>
          <a:p>
            <a:endParaRPr lang="de-DE" dirty="0"/>
          </a:p>
          <a:p>
            <a:r>
              <a:rPr lang="de-DE" dirty="0"/>
              <a:t>Multi = 11.06.2022 and 23.06.2022</a:t>
            </a:r>
          </a:p>
          <a:p>
            <a:endParaRPr lang="de-DE" dirty="0"/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290F0954-F6E5-6428-5289-62F0AB02B673}"/>
              </a:ext>
            </a:extLst>
          </p:cNvPr>
          <p:cNvCxnSpPr/>
          <p:nvPr/>
        </p:nvCxnSpPr>
        <p:spPr>
          <a:xfrm>
            <a:off x="7531510" y="5191432"/>
            <a:ext cx="894735" cy="757084"/>
          </a:xfrm>
          <a:prstGeom prst="straightConnector1">
            <a:avLst/>
          </a:prstGeom>
          <a:ln w="793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E36580FA-DD7B-44CF-43C4-867B97330900}"/>
              </a:ext>
            </a:extLst>
          </p:cNvPr>
          <p:cNvSpPr txBox="1"/>
          <p:nvPr/>
        </p:nvSpPr>
        <p:spPr>
          <a:xfrm>
            <a:off x="8443287" y="5686906"/>
            <a:ext cx="32839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/>
              <a:t>Next </a:t>
            </a:r>
            <a:r>
              <a:rPr lang="de-DE" sz="2800" dirty="0" err="1"/>
              <a:t>slide</a:t>
            </a:r>
            <a:endParaRPr lang="de-DE" sz="2800" dirty="0"/>
          </a:p>
        </p:txBody>
      </p:sp>
    </p:spTree>
    <p:extLst>
      <p:ext uri="{BB962C8B-B14F-4D97-AF65-F5344CB8AC3E}">
        <p14:creationId xmlns:p14="http://schemas.microsoft.com/office/powerpoint/2010/main" val="173335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3A8A4D-5639-59C2-33A2-3927D5FB3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Results</a:t>
            </a:r>
            <a:r>
              <a:rPr lang="de-DE" dirty="0"/>
              <a:t>: </a:t>
            </a:r>
            <a:r>
              <a:rPr lang="de-DE" sz="3600" dirty="0" err="1"/>
              <a:t>zeromean</a:t>
            </a:r>
            <a:r>
              <a:rPr lang="de-DE" sz="3600" dirty="0"/>
              <a:t>, 1 date, test_conv2d_n2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5376BD2-DC62-FA3E-DD3B-900FAE979F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658" y="1883357"/>
            <a:ext cx="5261493" cy="4363709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EB983E54-A016-B326-AA90-43AC38FAF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6052" y="1883357"/>
            <a:ext cx="4723750" cy="416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235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F6BDA-5303-5D8B-A24E-2DA56432F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7EAD74-D1FB-0BCB-0517-D0E19BDE1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Results</a:t>
            </a:r>
            <a:r>
              <a:rPr lang="de-DE" dirty="0"/>
              <a:t>: </a:t>
            </a:r>
            <a:r>
              <a:rPr lang="de-DE" sz="3600" dirty="0" err="1"/>
              <a:t>zeromean</a:t>
            </a:r>
            <a:r>
              <a:rPr lang="de-DE" sz="3600" dirty="0"/>
              <a:t>, 1 date, test_conv2d_n2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1069644-C1E7-77F1-6D6A-B954A6D5EB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>
            <a:fillRect/>
          </a:stretch>
        </p:blipFill>
        <p:spPr>
          <a:xfrm>
            <a:off x="0" y="1930400"/>
            <a:ext cx="11866751" cy="393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141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B3DCE-5CD6-D692-E20B-D286DDBA0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F27486-21B1-2221-941B-CFA75D0C9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Data leak check</a:t>
            </a:r>
            <a:endParaRPr lang="de-DE" sz="3600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484DD43-A568-21FC-FFEB-7FDC267FE520}"/>
              </a:ext>
            </a:extLst>
          </p:cNvPr>
          <p:cNvSpPr txBox="1"/>
          <p:nvPr/>
        </p:nvSpPr>
        <p:spPr>
          <a:xfrm>
            <a:off x="660400" y="1798320"/>
            <a:ext cx="9234195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Model: </a:t>
            </a:r>
            <a:r>
              <a:rPr lang="de-DE" sz="2400" dirty="0" err="1"/>
              <a:t>zeromean</a:t>
            </a:r>
            <a:r>
              <a:rPr lang="de-DE" sz="2400" dirty="0"/>
              <a:t>, 1 date, test_conv2d_n2</a:t>
            </a:r>
          </a:p>
          <a:p>
            <a:endParaRPr lang="de-DE" sz="2400" dirty="0"/>
          </a:p>
          <a:p>
            <a:r>
              <a:rPr lang="de-DE" sz="2400" dirty="0"/>
              <a:t>All </a:t>
            </a:r>
            <a:r>
              <a:rPr lang="de-DE" sz="2400" dirty="0" err="1"/>
              <a:t>class</a:t>
            </a:r>
            <a:r>
              <a:rPr lang="de-DE" sz="2400" dirty="0"/>
              <a:t> </a:t>
            </a:r>
            <a:r>
              <a:rPr lang="de-DE" sz="2400" dirty="0" err="1"/>
              <a:t>labels</a:t>
            </a:r>
            <a:r>
              <a:rPr lang="de-DE" sz="2400" dirty="0"/>
              <a:t> </a:t>
            </a:r>
            <a:r>
              <a:rPr lang="de-DE" sz="2400" dirty="0" err="1"/>
              <a:t>are</a:t>
            </a:r>
            <a:r>
              <a:rPr lang="de-DE" sz="2400" dirty="0"/>
              <a:t> </a:t>
            </a:r>
            <a:r>
              <a:rPr lang="de-DE" sz="2400" dirty="0" err="1"/>
              <a:t>shuffled</a:t>
            </a:r>
            <a:r>
              <a:rPr lang="de-DE" sz="2400" dirty="0"/>
              <a:t> at </a:t>
            </a: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dirty="0" err="1"/>
              <a:t>raw-data</a:t>
            </a:r>
            <a:r>
              <a:rPr lang="de-DE" sz="2400" dirty="0"/>
              <a:t> </a:t>
            </a:r>
            <a:r>
              <a:rPr lang="de-DE" sz="2400" dirty="0" err="1"/>
              <a:t>level</a:t>
            </a:r>
            <a:endParaRPr lang="de-DE" sz="2400" dirty="0"/>
          </a:p>
          <a:p>
            <a:endParaRPr lang="de-DE" sz="2400" dirty="0"/>
          </a:p>
          <a:p>
            <a:pPr marL="342900" indent="-342900">
              <a:buFont typeface="Wingdings" panose="05000000000000000000" pitchFamily="2" charset="2"/>
              <a:buChar char="à"/>
            </a:pPr>
            <a:r>
              <a:rPr lang="de-DE" sz="2400" dirty="0">
                <a:sym typeface="Wingdings" panose="05000000000000000000" pitchFamily="2" charset="2"/>
              </a:rPr>
              <a:t>The </a:t>
            </a:r>
            <a:r>
              <a:rPr lang="de-DE" sz="2400" dirty="0" err="1">
                <a:sym typeface="Wingdings" panose="05000000000000000000" pitchFamily="2" charset="2"/>
              </a:rPr>
              <a:t>whole</a:t>
            </a:r>
            <a:r>
              <a:rPr lang="de-DE" sz="2400" dirty="0">
                <a:sym typeface="Wingdings" panose="05000000000000000000" pitchFamily="2" charset="2"/>
              </a:rPr>
              <a:t> </a:t>
            </a:r>
            <a:r>
              <a:rPr lang="de-DE" sz="2400" dirty="0" err="1">
                <a:sym typeface="Wingdings" panose="05000000000000000000" pitchFamily="2" charset="2"/>
              </a:rPr>
              <a:t>script</a:t>
            </a:r>
            <a:r>
              <a:rPr lang="de-DE" sz="2400" dirty="0">
                <a:sym typeface="Wingdings" panose="05000000000000000000" pitchFamily="2" charset="2"/>
              </a:rPr>
              <a:t> </a:t>
            </a:r>
            <a:r>
              <a:rPr lang="de-DE" sz="2400" dirty="0" err="1">
                <a:sym typeface="Wingdings" panose="05000000000000000000" pitchFamily="2" charset="2"/>
              </a:rPr>
              <a:t>is</a:t>
            </a:r>
            <a:r>
              <a:rPr lang="de-DE" sz="2400" dirty="0">
                <a:sym typeface="Wingdings" panose="05000000000000000000" pitchFamily="2" charset="2"/>
              </a:rPr>
              <a:t> </a:t>
            </a:r>
            <a:r>
              <a:rPr lang="de-DE" sz="2400" dirty="0" err="1">
                <a:sym typeface="Wingdings" panose="05000000000000000000" pitchFamily="2" charset="2"/>
              </a:rPr>
              <a:t>run</a:t>
            </a:r>
            <a:r>
              <a:rPr lang="de-DE" sz="2400" dirty="0">
                <a:sym typeface="Wingdings" panose="05000000000000000000" pitchFamily="2" charset="2"/>
              </a:rPr>
              <a:t> </a:t>
            </a:r>
            <a:r>
              <a:rPr lang="de-DE" sz="2400" dirty="0" err="1">
                <a:sym typeface="Wingdings" panose="05000000000000000000" pitchFamily="2" charset="2"/>
              </a:rPr>
              <a:t>to</a:t>
            </a:r>
            <a:r>
              <a:rPr lang="de-DE" sz="2400" dirty="0">
                <a:sym typeface="Wingdings" panose="05000000000000000000" pitchFamily="2" charset="2"/>
              </a:rPr>
              <a:t> </a:t>
            </a:r>
            <a:r>
              <a:rPr lang="de-DE" sz="2400" dirty="0" err="1">
                <a:sym typeface="Wingdings" panose="05000000000000000000" pitchFamily="2" charset="2"/>
              </a:rPr>
              <a:t>test</a:t>
            </a:r>
            <a:r>
              <a:rPr lang="de-DE" sz="2400" dirty="0">
                <a:sym typeface="Wingdings" panose="05000000000000000000" pitchFamily="2" charset="2"/>
              </a:rPr>
              <a:t> </a:t>
            </a:r>
            <a:r>
              <a:rPr lang="de-DE" sz="2400" dirty="0" err="1">
                <a:sym typeface="Wingdings" panose="05000000000000000000" pitchFamily="2" charset="2"/>
              </a:rPr>
              <a:t>if</a:t>
            </a:r>
            <a:r>
              <a:rPr lang="de-DE" sz="2400" dirty="0">
                <a:sym typeface="Wingdings" panose="05000000000000000000" pitchFamily="2" charset="2"/>
              </a:rPr>
              <a:t> a </a:t>
            </a:r>
            <a:r>
              <a:rPr lang="de-DE" sz="2400" dirty="0" err="1">
                <a:sym typeface="Wingdings" panose="05000000000000000000" pitchFamily="2" charset="2"/>
              </a:rPr>
              <a:t>data</a:t>
            </a:r>
            <a:r>
              <a:rPr lang="de-DE" sz="2400" dirty="0">
                <a:sym typeface="Wingdings" panose="05000000000000000000" pitchFamily="2" charset="2"/>
              </a:rPr>
              <a:t> leak </a:t>
            </a:r>
            <a:r>
              <a:rPr lang="de-DE" sz="2400" dirty="0" err="1">
                <a:sym typeface="Wingdings" panose="05000000000000000000" pitchFamily="2" charset="2"/>
              </a:rPr>
              <a:t>causes</a:t>
            </a:r>
            <a:r>
              <a:rPr lang="de-DE" sz="2400" dirty="0">
                <a:sym typeface="Wingdings" panose="05000000000000000000" pitchFamily="2" charset="2"/>
              </a:rPr>
              <a:t> </a:t>
            </a:r>
            <a:r>
              <a:rPr lang="de-DE" sz="2400" dirty="0" err="1">
                <a:sym typeface="Wingdings" panose="05000000000000000000" pitchFamily="2" charset="2"/>
              </a:rPr>
              <a:t>the</a:t>
            </a:r>
            <a:r>
              <a:rPr lang="de-DE" sz="2400" dirty="0">
                <a:sym typeface="Wingdings" panose="05000000000000000000" pitchFamily="2" charset="2"/>
              </a:rPr>
              <a:t> high </a:t>
            </a:r>
            <a:r>
              <a:rPr lang="de-DE" sz="2400" dirty="0" err="1">
                <a:sym typeface="Wingdings" panose="05000000000000000000" pitchFamily="2" charset="2"/>
              </a:rPr>
              <a:t>accuracies</a:t>
            </a:r>
            <a:endParaRPr lang="de-DE" sz="2400" dirty="0">
              <a:sym typeface="Wingdings" panose="05000000000000000000" pitchFamily="2" charset="2"/>
            </a:endParaRPr>
          </a:p>
          <a:p>
            <a:pPr marL="342900" indent="-342900">
              <a:buFont typeface="Wingdings" panose="05000000000000000000" pitchFamily="2" charset="2"/>
              <a:buChar char="à"/>
            </a:pPr>
            <a:endParaRPr lang="de-DE" sz="2400" dirty="0">
              <a:sym typeface="Wingdings" panose="05000000000000000000" pitchFamily="2" charset="2"/>
            </a:endParaRPr>
          </a:p>
          <a:p>
            <a:r>
              <a:rPr lang="de-DE" sz="2400" dirty="0" err="1">
                <a:sym typeface="Wingdings" panose="05000000000000000000" pitchFamily="2" charset="2"/>
              </a:rPr>
              <a:t>Results</a:t>
            </a:r>
            <a:r>
              <a:rPr lang="de-DE" sz="2400" dirty="0">
                <a:sym typeface="Wingdings" panose="05000000000000000000" pitchFamily="2" charset="2"/>
              </a:rPr>
              <a:t>:</a:t>
            </a:r>
          </a:p>
          <a:p>
            <a:endParaRPr lang="de-DE" sz="2400" dirty="0">
              <a:sym typeface="Wingdings" panose="05000000000000000000" pitchFamily="2" charset="2"/>
            </a:endParaRPr>
          </a:p>
          <a:p>
            <a:r>
              <a:rPr lang="de-DE" sz="2400" dirty="0">
                <a:sym typeface="Wingdings" panose="05000000000000000000" pitchFamily="2" charset="2"/>
              </a:rPr>
              <a:t>Overall </a:t>
            </a:r>
            <a:r>
              <a:rPr lang="de-DE" sz="2400" dirty="0" err="1">
                <a:sym typeface="Wingdings" panose="05000000000000000000" pitchFamily="2" charset="2"/>
              </a:rPr>
              <a:t>accuracy</a:t>
            </a:r>
            <a:r>
              <a:rPr lang="de-DE" sz="2400" dirty="0">
                <a:sym typeface="Wingdings" panose="05000000000000000000" pitchFamily="2" charset="2"/>
              </a:rPr>
              <a:t>: 25.2 %</a:t>
            </a:r>
          </a:p>
          <a:p>
            <a:endParaRPr lang="de-DE" sz="2400" dirty="0">
              <a:sym typeface="Wingdings" panose="05000000000000000000" pitchFamily="2" charset="2"/>
            </a:endParaRPr>
          </a:p>
          <a:p>
            <a:r>
              <a:rPr lang="de-DE" sz="2400" dirty="0">
                <a:sym typeface="Wingdings" panose="05000000000000000000" pitchFamily="2" charset="2"/>
              </a:rPr>
              <a:t>Mean F1 score: 23.3 %</a:t>
            </a:r>
          </a:p>
          <a:p>
            <a:pPr marL="342900" indent="-342900">
              <a:buFont typeface="Wingdings" panose="05000000000000000000" pitchFamily="2" charset="2"/>
              <a:buChar char="à"/>
            </a:pPr>
            <a:endParaRPr lang="de-DE" sz="2400" dirty="0">
              <a:sym typeface="Wingdings" panose="05000000000000000000" pitchFamily="2" charset="2"/>
            </a:endParaRPr>
          </a:p>
          <a:p>
            <a:endParaRPr lang="de-DE" sz="2400" dirty="0">
              <a:sym typeface="Wingdings" panose="05000000000000000000" pitchFamily="2" charset="2"/>
            </a:endParaRPr>
          </a:p>
          <a:p>
            <a:pPr marL="342900" indent="-342900">
              <a:buFont typeface="Wingdings" panose="05000000000000000000" pitchFamily="2" charset="2"/>
              <a:buChar char="à"/>
            </a:pP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210219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D9F5C0-00C2-F156-4914-EF35EEB44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Data leak check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674E7E5E-FB4C-D0BE-9101-FED11D40F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23" y="2126905"/>
            <a:ext cx="5129219" cy="4312968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F99CE5D7-BD29-AF10-EEDF-810621802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4581" y="1918163"/>
            <a:ext cx="5129219" cy="452171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216E89B8-BBD9-799F-FBF6-55093CF165AE}"/>
              </a:ext>
            </a:extLst>
          </p:cNvPr>
          <p:cNvSpPr txBox="1"/>
          <p:nvPr/>
        </p:nvSpPr>
        <p:spPr>
          <a:xfrm>
            <a:off x="5257800" y="84324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dirty="0"/>
              <a:t>Model: </a:t>
            </a:r>
            <a:r>
              <a:rPr lang="de-DE" sz="1800" dirty="0" err="1"/>
              <a:t>zeromean</a:t>
            </a:r>
            <a:r>
              <a:rPr lang="de-DE" sz="1800" dirty="0"/>
              <a:t>, 1 date, test_conv2d_n2</a:t>
            </a:r>
          </a:p>
        </p:txBody>
      </p:sp>
    </p:spTree>
    <p:extLst>
      <p:ext uri="{BB962C8B-B14F-4D97-AF65-F5344CB8AC3E}">
        <p14:creationId xmlns:p14="http://schemas.microsoft.com/office/powerpoint/2010/main" val="3231886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9FA20B-AF7D-7A67-3C25-8D5E618B8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F1 score </a:t>
            </a:r>
            <a:r>
              <a:rPr lang="de-DE" dirty="0" err="1"/>
              <a:t>gain</a:t>
            </a:r>
            <a:r>
              <a:rPr lang="de-DE" dirty="0"/>
              <a:t> </a:t>
            </a:r>
            <a:r>
              <a:rPr lang="de-DE" dirty="0" err="1"/>
              <a:t>best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vs</a:t>
            </a:r>
            <a:r>
              <a:rPr lang="de-DE" dirty="0"/>
              <a:t> </a:t>
            </a:r>
            <a:r>
              <a:rPr lang="de-DE" dirty="0" err="1"/>
              <a:t>random</a:t>
            </a:r>
            <a:r>
              <a:rPr lang="de-DE" dirty="0"/>
              <a:t> </a:t>
            </a:r>
            <a:r>
              <a:rPr lang="de-DE" dirty="0" err="1"/>
              <a:t>model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E700FD6-4482-F968-7DCB-7BBCF8FDB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32940"/>
            <a:ext cx="4439920" cy="443992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50130BFB-320F-7B21-F156-B318C4116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664" y="1494478"/>
            <a:ext cx="4290816" cy="5120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881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513</Words>
  <Application>Microsoft Office PowerPoint</Application>
  <PresentationFormat>Breitbild</PresentationFormat>
  <Paragraphs>90</Paragraphs>
  <Slides>11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Consolas</vt:lpstr>
      <vt:lpstr>Wingdings</vt:lpstr>
      <vt:lpstr>Office</vt:lpstr>
      <vt:lpstr>Are Speckle patterns crop-specific?  2nd Dec 2025</vt:lpstr>
      <vt:lpstr>Hypothesis</vt:lpstr>
      <vt:lpstr>Test setup:</vt:lpstr>
      <vt:lpstr>NN network NR. 1; „test_conv2d“</vt:lpstr>
      <vt:lpstr>NN network Nr. 2: „test_conv2d_n2“</vt:lpstr>
      <vt:lpstr>Results : Overall accuracy</vt:lpstr>
      <vt:lpstr>Results: zeromean, 1 date, test_conv2d_n2</vt:lpstr>
      <vt:lpstr>Results: zeromean, 1 date, test_conv2d_n2</vt:lpstr>
      <vt:lpstr>Data leak check</vt:lpstr>
      <vt:lpstr>Data leak check</vt:lpstr>
      <vt:lpstr>F1 score gain best model vs random model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Eidmann</dc:creator>
  <cp:lastModifiedBy>David Eidmann</cp:lastModifiedBy>
  <cp:revision>10</cp:revision>
  <dcterms:created xsi:type="dcterms:W3CDTF">2025-12-02T08:36:32Z</dcterms:created>
  <dcterms:modified xsi:type="dcterms:W3CDTF">2025-12-02T09:13:18Z</dcterms:modified>
</cp:coreProperties>
</file>